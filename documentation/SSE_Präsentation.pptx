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4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E8FF"/>
    <a:srgbClr val="64B5FF"/>
    <a:srgbClr val="8FC2EA"/>
    <a:srgbClr val="1CA617"/>
    <a:srgbClr val="A7C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6395"/>
  </p:normalViewPr>
  <p:slideViewPr>
    <p:cSldViewPr snapToGrid="0">
      <p:cViewPr>
        <p:scale>
          <a:sx n="83" d="100"/>
          <a:sy n="83" d="100"/>
        </p:scale>
        <p:origin x="8488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7D01-3FC0-2A05-F165-2D5BB326E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ED3E1-5792-4F48-8F0A-6F2DD56AF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638CA-EAAF-DF79-96D0-A60B1008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910C4-2D8A-447A-3578-BF1F96BD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60366-0088-6430-23CA-64200A94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1782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0DB5A-6393-FAB1-03D9-9B5F13B7B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7AFB6-7662-9771-FE8C-C6443E739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EAB74-D1A0-FEC0-0FD7-8B04F6FB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F6CF-8785-64F0-D4AB-87844829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EF28D-7BAE-8AD0-A5CB-EAF63F0C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0089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57DF-D3CB-6BE2-01D2-DD6C4CD8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48D8D-8EA5-16DB-BF57-A8B5C58DD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D5268-EB60-A11D-BD66-0386253EF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84E43-BDCF-4AB0-714E-8E6FD9A5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1D579-729D-8F38-62A1-DC1A5EDD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423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4DC7-0A2D-592D-667C-216088F9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59068-27DE-9E7E-83BD-5396B6EE4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94F8A-4D18-815A-F295-401F3D9CA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A8C3F-6B38-629A-4183-5A3775E0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1F7A8-1DA3-657E-C79C-6BC3A38C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67481-78F5-9837-FB8B-087630D5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783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6EBA-42C7-B2CA-0991-FA09E32F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932C9-543B-F1A8-2687-A3C599298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18282-D438-1020-3198-E975B8266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566F4-DA80-51A3-9FB3-E4C4FC206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B060FE-D15A-9A90-F48A-3D8AAAB22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528D2-3EF0-BEFF-B631-639EE17B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17F29-53EF-9D65-4B9E-8A44392B9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ED7AF-6076-0661-C7AF-01183481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9032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B728-3176-5F82-070F-96D168DE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2EFA-4BC6-847B-90CE-1D300972A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44938-0B00-920B-F80D-1612B4FC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4D17A-3ACB-C9A5-3DEE-396E8F28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5322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D616E-B19C-C9CB-F3A5-0B27F3A6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A251A-028D-941F-D748-7963FF3A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B8114-F3B2-1CD0-D9EC-801C5FFA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290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95E7-3E59-BB66-8A0D-FEC45149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6F02-B1EB-4329-D4B6-2DF41EC2D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0C6DC-C66B-7BD9-FEE6-8940547EC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B6E20-6475-AD5B-4D8F-560DBB19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55783-6F04-5DBC-B934-A6929667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8F603-6397-2C3F-E818-09D8C652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163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A629-4DA0-60D9-D940-49697CD5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192CD-9E01-A5DA-8F65-2602DD025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4DD92-B943-9B57-0C38-8BB706D26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95C73-96CE-7DD9-CD0D-509F6049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C3D3A-E13D-4076-0170-B57C106F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6DBDF-A68F-DCA2-281B-A61AF0D4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729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586A-9DEA-91C0-CB38-2F73898F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AC73E-4E05-ED84-15A4-19616EAEA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226E1-1D99-528A-3A3F-DA4C67E2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A1138-31F5-46E3-3490-6C6E9371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F70F1-06F9-5C5E-A683-2FAAF7AC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945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09AF86-C78E-E77E-05A2-ACA8E21E1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9D77E-D4C0-FA95-CA00-CB8813E24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E5E23-D3A9-EE21-9341-4F41BE80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1E679-248F-19B4-FA80-B56C2B51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4EDF4-7FE1-5A92-1F74-484B78F6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71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D3C20-F793-73BA-3D33-605FBD65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F98C3-41E9-6F86-BDB8-798D7C463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1DBFB-04D3-9453-F81B-9FF97DC8E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4235B-E48D-6845-A1B8-FC8D7CFEBEC7}" type="datetimeFigureOut">
              <a:rPr lang="en-DE" smtClean="0"/>
              <a:t>14.01.25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AD0CE-668D-336C-0322-2366490ED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BD808-B35B-497A-66A2-E8C05C963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A63FA-EF08-F242-BD7E-927D42167FF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4337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3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69A9-2E5E-32E3-97F7-2F84B09EC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159088" y="1897577"/>
            <a:ext cx="9144000" cy="2387600"/>
          </a:xfrm>
        </p:spPr>
        <p:txBody>
          <a:bodyPr>
            <a:normAutofit/>
          </a:bodyPr>
          <a:lstStyle/>
          <a:p>
            <a:r>
              <a:rPr lang="de-DE" dirty="0">
                <a:latin typeface="Century Gothic" panose="020B0502020202020204" pitchFamily="34" charset="0"/>
              </a:rPr>
              <a:t>Einblick im „Sky Team“ Development</a:t>
            </a:r>
            <a:br>
              <a:rPr lang="de-DE" dirty="0">
                <a:latin typeface="Century Gothic" panose="020B0502020202020204" pitchFamily="34" charset="0"/>
              </a:rPr>
            </a:br>
            <a:r>
              <a:rPr lang="de-DE" sz="3600" dirty="0">
                <a:latin typeface="Century Gothic" panose="020B0502020202020204" pitchFamily="34" charset="0"/>
              </a:rPr>
              <a:t>Team A*</a:t>
            </a:r>
            <a:endParaRPr lang="en-DE" dirty="0">
              <a:latin typeface="Century Gothic" panose="020B0502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8806F6-B218-F8F3-90C4-6230CAEC7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6597943" y="355112"/>
            <a:ext cx="5838287" cy="583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3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1.45039 -0.00393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526" y="-2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81481E-6 L 1.56745 -0.00763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372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7E7C-8C9C-7CA7-C60D-D0656839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Startklar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 Das Spiel, das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begeistert</a:t>
            </a:r>
            <a:endParaRPr lang="en-DE" dirty="0">
              <a:latin typeface="Century Gothic" panose="020B0502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98843B-1ECF-A1E5-7F5F-993E25F260F5}"/>
              </a:ext>
            </a:extLst>
          </p:cNvPr>
          <p:cNvGrpSpPr/>
          <p:nvPr/>
        </p:nvGrpSpPr>
        <p:grpSpPr>
          <a:xfrm>
            <a:off x="245804" y="1401095"/>
            <a:ext cx="3868995" cy="4194074"/>
            <a:chOff x="245804" y="1401095"/>
            <a:chExt cx="3868995" cy="4194074"/>
          </a:xfrm>
        </p:grpSpPr>
        <p:pic>
          <p:nvPicPr>
            <p:cNvPr id="6" name="Graphic 5" descr="Aeroplane with solid fill">
              <a:extLst>
                <a:ext uri="{FF2B5EF4-FFF2-40B4-BE49-F238E27FC236}">
                  <a16:creationId xmlns:a16="http://schemas.microsoft.com/office/drawing/2014/main" id="{E6862C36-B014-F5B5-D847-BF017F130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3167" y="1401095"/>
              <a:ext cx="1639529" cy="163952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CE6393-DA08-EDA0-3769-E43597C90680}"/>
                </a:ext>
              </a:extLst>
            </p:cNvPr>
            <p:cNvSpPr txBox="1"/>
            <p:nvPr/>
          </p:nvSpPr>
          <p:spPr>
            <a:xfrm>
              <a:off x="245804" y="3040624"/>
              <a:ext cx="3868995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b="1" dirty="0">
                  <a:latin typeface="Century Gothic" panose="020B0502020202020204" pitchFamily="34" charset="0"/>
                </a:rPr>
                <a:t>„Sky Team“</a:t>
              </a:r>
            </a:p>
            <a:p>
              <a:pPr algn="ctr"/>
              <a:endParaRPr lang="de-DE" sz="2000" dirty="0">
                <a:latin typeface="Century Gothic" panose="020B0502020202020204" pitchFamily="34" charset="0"/>
              </a:endParaRPr>
            </a:p>
            <a:p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Die Spieler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steuern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ein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Flugzeug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durch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strategische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Entscheidungen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und Teamwork, um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sicher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zu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landen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und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zu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gewinnen</a:t>
              </a:r>
              <a:endParaRPr lang="en-GB" sz="2000" dirty="0">
                <a:solidFill>
                  <a:srgbClr val="0E0E0E"/>
                </a:solidFill>
                <a:effectLst/>
                <a:latin typeface="Century Gothic" panose="020B0502020202020204" pitchFamily="34" charset="0"/>
              </a:endParaRPr>
            </a:p>
            <a:p>
              <a:endParaRPr lang="en-DE" sz="2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D8DF1-C5C7-2EC3-EA54-6A2FB3610566}"/>
              </a:ext>
            </a:extLst>
          </p:cNvPr>
          <p:cNvGrpSpPr/>
          <p:nvPr/>
        </p:nvGrpSpPr>
        <p:grpSpPr>
          <a:xfrm>
            <a:off x="3973460" y="2663926"/>
            <a:ext cx="3868995" cy="4194074"/>
            <a:chOff x="245804" y="1401095"/>
            <a:chExt cx="3868995" cy="4194074"/>
          </a:xfrm>
        </p:grpSpPr>
        <p:pic>
          <p:nvPicPr>
            <p:cNvPr id="10" name="Graphic 9" descr="Aeroplane with solid fill">
              <a:extLst>
                <a:ext uri="{FF2B5EF4-FFF2-40B4-BE49-F238E27FC236}">
                  <a16:creationId xmlns:a16="http://schemas.microsoft.com/office/drawing/2014/main" id="{AC4C64A9-276E-85CF-9DB5-A3B1670B6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33167" y="1401095"/>
              <a:ext cx="1639529" cy="163952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0B43CB-9413-2315-4F19-5D8A1A2232CA}"/>
                </a:ext>
              </a:extLst>
            </p:cNvPr>
            <p:cNvSpPr txBox="1"/>
            <p:nvPr/>
          </p:nvSpPr>
          <p:spPr>
            <a:xfrm>
              <a:off x="245804" y="3040624"/>
              <a:ext cx="3868995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Hauptmerkmale</a:t>
              </a:r>
              <a:endParaRPr lang="en-GB" sz="2000" dirty="0">
                <a:solidFill>
                  <a:srgbClr val="0E0E0E"/>
                </a:solidFill>
                <a:effectLst/>
                <a:latin typeface="Century Gothic" panose="020B0502020202020204" pitchFamily="34" charset="0"/>
              </a:endParaRPr>
            </a:p>
            <a:p>
              <a:pPr algn="ctr"/>
              <a:endParaRPr lang="de-DE" sz="2000" dirty="0">
                <a:latin typeface="Century Gothic" panose="020B0502020202020204" pitchFamily="34" charset="0"/>
              </a:endParaRPr>
            </a:p>
            <a:p>
              <a:r>
                <a:rPr lang="en-GB" sz="2000" dirty="0" err="1">
                  <a:solidFill>
                    <a:srgbClr val="0E0E0E"/>
                  </a:solidFill>
                  <a:latin typeface="Century Gothic" panose="020B0502020202020204" pitchFamily="34" charset="0"/>
                </a:rPr>
                <a:t>W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urde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in Java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mithilfe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von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l</a:t>
              </a:r>
              <a:r>
                <a:rPr lang="en-GB" sz="2000" dirty="0" err="1">
                  <a:solidFill>
                    <a:srgbClr val="0E0E0E"/>
                  </a:solidFill>
                  <a:latin typeface="Century Gothic" panose="020B0502020202020204" pitchFamily="34" charset="0"/>
                </a:rPr>
                <a:t>ibGDX</a:t>
              </a:r>
              <a:r>
                <a:rPr lang="en-GB" sz="2000" dirty="0">
                  <a:solidFill>
                    <a:srgbClr val="0E0E0E"/>
                  </a:solidFill>
                  <a:latin typeface="Century Gothic" panose="020B0502020202020204" pitchFamily="34" charset="0"/>
                </a:rPr>
                <a:t> framework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entwickelt</a:t>
              </a:r>
              <a:r>
                <a:rPr lang="en-GB" sz="2000" dirty="0">
                  <a:solidFill>
                    <a:srgbClr val="0E0E0E"/>
                  </a:solidFill>
                  <a:latin typeface="Century Gothic" panose="020B0502020202020204" pitchFamily="34" charset="0"/>
                </a:rPr>
                <a:t>. 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Das Spiel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ist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für PCs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konzipiert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,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benutzerfreundlich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und ideal für den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Familienspaß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.</a:t>
              </a:r>
            </a:p>
            <a:p>
              <a:endParaRPr lang="en-DE" sz="2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DCF0BE-5E16-FE2D-9DDA-99CFA744DB07}"/>
              </a:ext>
            </a:extLst>
          </p:cNvPr>
          <p:cNvGrpSpPr/>
          <p:nvPr/>
        </p:nvGrpSpPr>
        <p:grpSpPr>
          <a:xfrm>
            <a:off x="8155856" y="1540541"/>
            <a:ext cx="3868995" cy="3886298"/>
            <a:chOff x="245804" y="1401095"/>
            <a:chExt cx="3868995" cy="3886298"/>
          </a:xfrm>
        </p:grpSpPr>
        <p:pic>
          <p:nvPicPr>
            <p:cNvPr id="13" name="Graphic 12" descr="Aeroplane with solid fill">
              <a:extLst>
                <a:ext uri="{FF2B5EF4-FFF2-40B4-BE49-F238E27FC236}">
                  <a16:creationId xmlns:a16="http://schemas.microsoft.com/office/drawing/2014/main" id="{40637D41-34CF-7D00-7411-68BF25F40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33167" y="1401095"/>
              <a:ext cx="1639529" cy="163952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065803-FC4C-EDDD-3018-7E3D67758828}"/>
                </a:ext>
              </a:extLst>
            </p:cNvPr>
            <p:cNvSpPr txBox="1"/>
            <p:nvPr/>
          </p:nvSpPr>
          <p:spPr>
            <a:xfrm>
              <a:off x="245804" y="3040624"/>
              <a:ext cx="3868995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b="1" dirty="0">
                  <a:solidFill>
                    <a:srgbClr val="0E0E0E"/>
                  </a:solidFill>
                  <a:latin typeface="Century Gothic" panose="020B0502020202020204" pitchFamily="34" charset="0"/>
                </a:rPr>
                <a:t>Zielgruppe</a:t>
              </a:r>
            </a:p>
            <a:p>
              <a:pPr algn="ctr"/>
              <a:endParaRPr lang="de-DE" sz="2000" dirty="0">
                <a:latin typeface="Century Gothic" panose="020B0502020202020204" pitchFamily="34" charset="0"/>
              </a:endParaRPr>
            </a:p>
            <a:p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Geeignet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für Spieler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jeden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Alters, die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eine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unterhaltsame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und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zugängliche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Spielerfahrung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2000" dirty="0" err="1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suchen</a:t>
              </a:r>
              <a:r>
                <a:rPr lang="en-GB" sz="2000" dirty="0">
                  <a:solidFill>
                    <a:srgbClr val="0E0E0E"/>
                  </a:solidFill>
                  <a:effectLst/>
                  <a:latin typeface="Century Gothic" panose="020B0502020202020204" pitchFamily="34" charset="0"/>
                </a:rPr>
                <a:t>.</a:t>
              </a:r>
            </a:p>
            <a:p>
              <a:endParaRPr lang="en-DE" sz="2000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4DE188DD-551D-86DE-033B-04B067748A41}"/>
              </a:ext>
            </a:extLst>
          </p:cNvPr>
          <p:cNvCxnSpPr>
            <a:cxnSpLocks/>
          </p:cNvCxnSpPr>
          <p:nvPr/>
        </p:nvCxnSpPr>
        <p:spPr>
          <a:xfrm>
            <a:off x="3086097" y="2257629"/>
            <a:ext cx="1653358" cy="1042809"/>
          </a:xfrm>
          <a:prstGeom prst="curvedConnector3">
            <a:avLst>
              <a:gd name="adj1" fmla="val 43756"/>
            </a:avLst>
          </a:prstGeom>
          <a:ln w="508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C5BE82CA-CE58-00EF-1FAE-F55633883B51}"/>
              </a:ext>
            </a:extLst>
          </p:cNvPr>
          <p:cNvCxnSpPr>
            <a:cxnSpLocks/>
          </p:cNvCxnSpPr>
          <p:nvPr/>
        </p:nvCxnSpPr>
        <p:spPr>
          <a:xfrm flipV="1">
            <a:off x="6955092" y="2469789"/>
            <a:ext cx="1699907" cy="959211"/>
          </a:xfrm>
          <a:prstGeom prst="curvedConnector3">
            <a:avLst/>
          </a:prstGeom>
          <a:ln w="508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97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D65E4-D63C-607C-42C7-CE83C81C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BB1C5-0C1D-F421-4037-BFE768EE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Unser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Flugteam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 Die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Köpfe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hinter</a:t>
            </a:r>
            <a:r>
              <a:rPr lang="ru-RU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de-DE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„Sky Team“</a:t>
            </a:r>
            <a:endParaRPr lang="en-DE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CD7D-0D02-9A12-2F23-813CD0508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96506-19DC-7921-4296-78D5CF965C5F}"/>
              </a:ext>
            </a:extLst>
          </p:cNvPr>
          <p:cNvSpPr txBox="1"/>
          <p:nvPr/>
        </p:nvSpPr>
        <p:spPr>
          <a:xfrm>
            <a:off x="3049229" y="3244334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4B307C-932A-5D5C-25C2-97435EBD49B4}"/>
              </a:ext>
            </a:extLst>
          </p:cNvPr>
          <p:cNvGrpSpPr/>
          <p:nvPr/>
        </p:nvGrpSpPr>
        <p:grpSpPr>
          <a:xfrm>
            <a:off x="-6834736" y="2512603"/>
            <a:ext cx="4876800" cy="4876800"/>
            <a:chOff x="605913" y="1616075"/>
            <a:chExt cx="4876800" cy="48768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31DD930-AA35-92EC-80D5-BCB1281E1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913" y="1616075"/>
              <a:ext cx="4876800" cy="4876800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A5C083-AC2E-D9BD-B642-A3FB06578E32}"/>
                </a:ext>
              </a:extLst>
            </p:cNvPr>
            <p:cNvSpPr/>
            <p:nvPr/>
          </p:nvSpPr>
          <p:spPr>
            <a:xfrm>
              <a:off x="2300748" y="1709917"/>
              <a:ext cx="2286000" cy="2291377"/>
            </a:xfrm>
            <a:prstGeom prst="ellipse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CA7E13-8481-A5A7-D8E6-3DBDF1CC85E5}"/>
              </a:ext>
            </a:extLst>
          </p:cNvPr>
          <p:cNvGrpSpPr/>
          <p:nvPr/>
        </p:nvGrpSpPr>
        <p:grpSpPr>
          <a:xfrm>
            <a:off x="13564829" y="2512603"/>
            <a:ext cx="4876800" cy="4876800"/>
            <a:chOff x="6477000" y="2512603"/>
            <a:chExt cx="4876800" cy="48768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C455CFE-C754-14A2-68FA-52EC55487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477000" y="2512603"/>
              <a:ext cx="4876800" cy="4876800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D5B87A4-E0BE-84F1-3818-60F0CDF0D33E}"/>
                </a:ext>
              </a:extLst>
            </p:cNvPr>
            <p:cNvSpPr/>
            <p:nvPr/>
          </p:nvSpPr>
          <p:spPr>
            <a:xfrm>
              <a:off x="7540580" y="2512603"/>
              <a:ext cx="2286000" cy="2291377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003BEA4-9661-D882-3A7D-396931C5B806}"/>
              </a:ext>
            </a:extLst>
          </p:cNvPr>
          <p:cNvSpPr txBox="1"/>
          <p:nvPr/>
        </p:nvSpPr>
        <p:spPr>
          <a:xfrm>
            <a:off x="7855380" y="4461550"/>
            <a:ext cx="31694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>
                <a:latin typeface="Century Gothic" panose="020B0502020202020204" pitchFamily="34" charset="0"/>
              </a:rPr>
              <a:t>Nikolai </a:t>
            </a:r>
            <a:r>
              <a:rPr lang="de-DE" b="1" dirty="0" err="1">
                <a:latin typeface="Century Gothic" panose="020B0502020202020204" pitchFamily="34" charset="0"/>
              </a:rPr>
              <a:t>Krysin</a:t>
            </a:r>
            <a:endParaRPr lang="de-DE" b="1" dirty="0">
              <a:latin typeface="Century Gothic" panose="020B0502020202020204" pitchFamily="34" charset="0"/>
            </a:endParaRPr>
          </a:p>
          <a:p>
            <a:pPr algn="ctr"/>
            <a:endParaRPr lang="de-DE" b="1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Spielentwickler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Dokumentationsexperte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Designer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Logikentwickler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Debugger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93D858-7811-F40F-A7E9-AC1FA54F465F}"/>
              </a:ext>
            </a:extLst>
          </p:cNvPr>
          <p:cNvSpPr txBox="1"/>
          <p:nvPr/>
        </p:nvSpPr>
        <p:spPr>
          <a:xfrm>
            <a:off x="502881" y="1145540"/>
            <a:ext cx="35381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>
                <a:latin typeface="Century Gothic" panose="020B0502020202020204" pitchFamily="34" charset="0"/>
              </a:rPr>
              <a:t>Nataliia Shcherba</a:t>
            </a:r>
          </a:p>
          <a:p>
            <a:pPr algn="ctr"/>
            <a:endParaRPr lang="de-DE" b="1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entury Gothic" panose="020B0502020202020204" pitchFamily="34" charset="0"/>
              </a:rPr>
              <a:t>Spiel- und </a:t>
            </a:r>
            <a:r>
              <a:rPr lang="en-GB" dirty="0" err="1">
                <a:latin typeface="Century Gothic" panose="020B0502020202020204" pitchFamily="34" charset="0"/>
              </a:rPr>
              <a:t>Logikentwickleri</a:t>
            </a:r>
            <a:r>
              <a:rPr lang="de-DE" dirty="0" err="1">
                <a:latin typeface="Century Gothic" panose="020B0502020202020204" pitchFamily="34" charset="0"/>
              </a:rPr>
              <a:t>n</a:t>
            </a:r>
            <a:endParaRPr lang="en-GB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Century Gothic" panose="020B0502020202020204" pitchFamily="34" charset="0"/>
              </a:rPr>
              <a:t>Dokumentationsexpertin</a:t>
            </a:r>
            <a:endParaRPr lang="en-GB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Century Gothic" panose="020B0502020202020204" pitchFamily="34" charset="0"/>
              </a:rPr>
              <a:t>Designerin</a:t>
            </a:r>
            <a:endParaRPr lang="en-GB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Century Gothic" panose="020B0502020202020204" pitchFamily="34" charset="0"/>
              </a:rPr>
              <a:t>Debuggerin</a:t>
            </a:r>
            <a:endParaRPr lang="en-GB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entury Gothic" panose="020B0502020202020204" pitchFamily="34" charset="0"/>
              </a:rPr>
              <a:t>Git-</a:t>
            </a:r>
            <a:r>
              <a:rPr lang="en-GB" dirty="0" err="1">
                <a:latin typeface="Century Gothic" panose="020B0502020202020204" pitchFamily="34" charset="0"/>
              </a:rPr>
              <a:t>Managerin</a:t>
            </a:r>
            <a:r>
              <a:rPr lang="en-GB" dirty="0"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6855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558 0.12616 L 0.39558 0.12639 C 0.46446 0.13634 0.41615 0.13009 0.57357 0.12616 C 0.58946 0.1257 0.60352 0.12338 0.61901 0.1213 C 0.63256 0.11644 0.61875 0.12107 0.63789 0.11644 C 0.6405 0.11597 0.64323 0.11458 0.64584 0.11412 C 0.65743 0.11227 0.68086 0.10949 0.68086 0.10972 C 0.68581 0.10764 0.69037 0.10579 0.69558 0.10463 C 0.69935 0.1037 0.70352 0.10301 0.70756 0.10232 L 0.71836 0.09977 C 0.72006 0.09907 0.72188 0.09838 0.7237 0.09745 C 0.725 0.09676 0.72618 0.0956 0.72774 0.09514 C 0.7306 0.09398 0.73399 0.09375 0.73698 0.09282 C 0.74063 0.09144 0.74414 0.08912 0.74766 0.08796 L 0.75573 0.08565 C 0.76368 0.08102 0.75599 0.08495 0.76784 0.08079 C 0.76966 0.08009 0.77136 0.07917 0.77305 0.07847 C 0.77878 0.07616 0.7819 0.07546 0.78789 0.07361 L 0.79584 0.06898 C 0.79714 0.06806 0.79857 0.06713 0.8 0.06667 C 0.80209 0.06574 0.80456 0.06528 0.80664 0.06412 C 0.82513 0.05509 0.80495 0.06273 0.82149 0.05695 C 0.82344 0.05556 0.82917 0.05116 0.83216 0.05 C 0.83425 0.04884 0.83659 0.04838 0.83881 0.04745 C 0.84232 0.04445 0.8461 0.0419 0.84961 0.03796 C 0.85261 0.03426 0.85586 0.03056 0.85899 0.02616 C 0.86042 0.02384 0.86133 0.02107 0.86289 0.01898 C 0.86537 0.01551 0.86875 0.01343 0.87097 0.00949 C 0.8737 0.00463 0.87591 -0.00116 0.87891 -0.00486 C 0.88308 -0.00995 0.88868 -0.01574 0.89115 -0.02384 C 0.89284 -0.03032 0.89545 -0.03611 0.89636 -0.04282 L 0.89909 -0.06204 C 0.89857 -0.08333 0.89844 -0.10486 0.89766 -0.12616 C 0.89766 -0.13102 0.89571 -0.13819 0.89506 -0.14282 C 0.89453 -0.14606 0.89453 -0.1493 0.89362 -0.15231 C 0.8931 -0.15509 0.8918 -0.15718 0.89115 -0.15949 C 0.88868 -0.1662 0.88685 -0.17407 0.88295 -0.1787 C 0.87969 -0.18241 0.87591 -0.18495 0.87227 -0.18819 C 0.86498 -0.19468 0.86888 -0.19213 0.86029 -0.19514 C 0.85104 -0.19444 0.84219 -0.19491 0.83334 -0.19282 C 0.83177 -0.19259 0.83073 -0.18958 0.8293 -0.18819 C 0.82774 -0.18634 0.82591 -0.18518 0.82409 -0.18333 C 0.81771 -0.17685 0.82214 -0.18032 0.81589 -0.17153 C 0.81472 -0.16968 0.81328 -0.16852 0.81185 -0.16667 C 0.80912 -0.16227 0.80599 -0.15579 0.80404 -0.15 C 0.80104 -0.14236 0.79831 -0.13449 0.79584 -0.12616 C 0.79349 -0.11736 0.78959 -0.10463 0.78789 -0.09537 C 0.78581 -0.08426 0.78425 -0.07315 0.78256 -0.06204 L 0.77982 -0.04537 C 0.77943 -0.03981 0.77904 -0.03426 0.77839 -0.0287 C 0.778 -0.02384 0.77722 -0.01921 0.77722 -0.01435 C 0.77722 -0.00393 0.77774 0.00625 0.77839 0.01667 C 0.77878 0.0206 0.77865 0.02523 0.77982 0.02847 C 0.7875 0.04745 0.78868 0.0456 0.79584 0.05463 C 0.79779 0.05695 0.79922 0.05995 0.80118 0.06181 C 0.80326 0.06389 0.80586 0.06458 0.80795 0.06667 C 0.80977 0.06852 0.81146 0.07199 0.81328 0.07361 C 0.81589 0.07593 0.82149 0.07847 0.82149 0.0787 C 0.83008 0.09005 0.82305 0.08264 0.83216 0.08796 C 0.83216 0.08796 0.84128 0.09468 0.84284 0.09514 C 0.84779 0.0963 0.85261 0.09676 0.85729 0.09745 C 0.87266 0.09676 0.88802 0.09653 0.90313 0.09514 C 0.90482 0.09491 0.90651 0.09352 0.90847 0.09282 C 0.91003 0.09213 0.92995 0.08542 0.93256 0.0831 C 0.94037 0.07639 0.93594 0.07894 0.94597 0.07616 C 0.94818 0.07454 0.95052 0.07315 0.95274 0.0713 C 0.95456 0.06991 0.95625 0.06806 0.95795 0.06667 C 0.96407 0.06204 0.96159 0.0669 0.96862 0.05695 C 0.97071 0.05417 0.97227 0.05046 0.97409 0.04745 C 0.9767 0.04329 0.97943 0.03982 0.98216 0.03565 C 0.9836 0.03333 0.98464 0.03032 0.98607 0.02847 C 0.98776 0.02639 0.98985 0.0257 0.99154 0.02361 C 0.99388 0.02083 0.99584 0.01713 0.99818 0.01412 C 1.00039 0.01157 1.00287 0.00995 1.00495 0.00695 C 1.01159 -0.00255 1.01146 -0.00579 1.01693 -0.01667 C 1.01914 -0.02083 1.02175 -0.0243 1.0237 -0.0287 C 1.02578 -0.0331 1.02696 -0.03843 1.02891 -0.04282 C 1.0306 -0.04653 1.03269 -0.04907 1.03438 -0.05255 C 1.03581 -0.05532 1.03698 -0.05903 1.03841 -0.06204 C 1.04102 -0.0669 1.04375 -0.07153 1.04636 -0.07616 C 1.04779 -0.0787 1.04935 -0.08079 1.05039 -0.08333 C 1.05183 -0.08657 1.05313 -0.08981 1.05443 -0.09282 C 1.05847 -0.10139 1.05625 -0.09352 1.0599 -0.10486 C 1.06328 -0.11551 1.06185 -0.1118 1.06381 -0.12153 C 1.06993 -0.15093 1.06315 -0.11759 1.06927 -0.14282 C 1.06966 -0.14514 1.06979 -0.14768 1.07058 -0.15 C 1.07214 -0.15648 1.0737 -0.16319 1.07591 -0.16898 C 1.08177 -0.18472 1.07982 -0.17824 1.08256 -0.18819 " pathEditMode="relative" rAng="0" ptsTypes="AAAAAAAAAAAAAAAAAAAAAAAAAAAAAAAAAAAAAAAAAAAAAAAAAAAAAAAAAAAAAAAAAAAAAAAAAAAAAAAAAAAAAAAA">
                                      <p:cBhvr>
                                        <p:cTn id="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49" y="-15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529 0.18727 L -0.23529 0.1875 C -0.23984 0.18889 -0.24427 0.19051 -0.2487 0.19213 C -0.25182 0.19306 -0.25508 0.19282 -0.25807 0.19445 C -0.2957 0.2132 -0.26992 0.20556 -0.29154 0.21111 C -0.30729 0.22037 -0.29219 0.21227 -0.31575 0.2206 C -0.31797 0.2213 -0.32018 0.22245 -0.3224 0.22292 C -0.32734 0.22407 -0.33229 0.22431 -0.33711 0.22546 C -0.34258 0.22662 -0.34779 0.22847 -0.35325 0.23009 C -0.35586 0.23102 -0.35859 0.23148 -0.3612 0.23241 C -0.36575 0.23403 -0.37018 0.23519 -0.37461 0.23727 C -0.37643 0.23796 -0.37812 0.23935 -0.37995 0.23958 C -0.40208 0.24306 -0.4569 0.24398 -0.46836 0.24445 C -0.48906 0.24907 -0.47383 0.24583 -0.50716 0.25162 C -0.51172 0.25232 -0.51615 0.25347 -0.52057 0.25394 L -0.58086 0.2588 L -0.72422 0.25625 C -0.73281 0.25602 -0.73125 0.25324 -0.73893 0.24907 C -0.74115 0.24792 -0.74336 0.24745 -0.74557 0.24676 C -0.7487 0.24583 -0.75703 0.24352 -0.76029 0.24213 C -0.77904 0.23287 -0.75872 0.24074 -0.775 0.23495 C -0.79323 0.22199 -0.78437 0.22963 -0.80182 0.21111 C -0.80404 0.2088 -0.80651 0.20671 -0.80859 0.20394 L -0.82187 0.18495 C -0.82422 0.18171 -0.82656 0.17894 -0.82865 0.17546 C -0.83047 0.17222 -0.83203 0.16875 -0.83398 0.16574 C -0.83568 0.1632 -0.83776 0.16157 -0.83932 0.1588 C -0.84089 0.15579 -0.8418 0.15208 -0.84336 0.14907 C -0.8612 0.11412 -0.84466 0.15162 -0.86081 0.11343 C -0.86211 0.11019 -0.8638 0.10741 -0.86484 0.10394 C -0.86654 0.09769 -0.86888 0.09167 -0.87018 0.08495 C -0.872 0.075 -0.8707 0.07986 -0.87422 0.0706 C -0.87552 0.0632 -0.87682 0.05764 -0.87682 0.04907 C -0.87682 0.04514 -0.87604 0.0412 -0.87552 0.03727 C -0.87513 0.03472 -0.875 0.03218 -0.87422 0.03009 C -0.87318 0.02778 -0.87135 0.02732 -0.87018 0.02546 C -0.85924 0.0081 -0.86641 0.01366 -0.85807 0.0088 C -0.85625 0.00625 -0.85469 0.00347 -0.85273 0.00162 C -0.85039 -0.00069 -0.84388 -0.00255 -0.84206 -0.00324 C -0.82852 -0.00856 -0.8457 -0.0044 -0.81797 -0.00787 C -0.81211 -0.00718 -0.80625 -0.00741 -0.80052 -0.00555 C -0.79271 -0.00324 -0.79336 0.00093 -0.78841 0.01111 C -0.78216 0.02384 -0.7862 0.01181 -0.78177 0.02778 C -0.77969 0.04213 -0.78099 0.03426 -0.77773 0.05162 L -0.77643 0.0588 L -0.775 0.06574 C -0.77552 0.08657 -0.77565 0.10718 -0.77643 0.12778 C -0.77656 0.13102 -0.77708 0.13426 -0.77773 0.13727 C -0.7793 0.14375 -0.78125 0.15 -0.78307 0.15625 C -0.78398 0.15949 -0.78464 0.16296 -0.78581 0.16574 C -0.79193 0.18032 -0.79622 0.19236 -0.80456 0.20394 L -0.81654 0.2206 C -0.81836 0.22292 -0.81979 0.22639 -0.82187 0.22778 C -0.82331 0.22847 -0.82474 0.22894 -0.82591 0.23009 C -0.83854 0.24144 -0.8276 0.23426 -0.83672 0.23958 C -0.8487 0.23889 -0.86081 0.24005 -0.87279 0.23727 C -0.8776 0.23611 -0.88164 0.23032 -0.8862 0.22778 C -0.88893 0.22616 -0.89154 0.22407 -0.89427 0.22292 C -0.91562 0.21412 -0.89154 0.22778 -0.91302 0.21574 C -0.91732 0.21343 -0.93216 0.20394 -0.93841 0.20162 C -0.94154 0.20046 -0.94479 0.20023 -0.94779 0.19907 C -0.95104 0.19792 -0.95404 0.1956 -0.95716 0.19445 C -0.96029 0.19329 -0.96341 0.19282 -0.96654 0.19213 C -0.96927 0.1912 -0.97187 0.19051 -0.97461 0.18958 C -0.97734 0.18796 -0.97995 0.18611 -0.98268 0.18495 C -0.9849 0.1838 -0.98724 0.1838 -0.98932 0.18241 C -0.99128 0.18148 -0.99284 0.17917 -0.99466 0.17778 C -0.99596 0.17685 -0.9974 0.17639 -0.9987 0.17546 C -1.00052 0.17384 -1.00221 0.17199 -1.00404 0.1706 C -1.01055 0.16551 -1.01042 0.1669 -1.01615 0.16111 C -1.02279 0.15417 -1.01745 0.15764 -1.02552 0.15162 C -1.03125 0.14722 -1.02839 0.15162 -1.0349 0.14445 C -1.0401 0.13866 -1.03971 0.13588 -1.04557 0.13241 C -1.04779 0.13125 -1.05 0.13102 -1.05234 0.13009 C -1.06146 0.11921 -1.05729 0.12245 -1.06432 0.11829 C -1.0681 0.11157 -1.06836 0.10949 -1.0737 0.10625 C -1.07721 0.10417 -1.08437 0.10162 -1.08437 0.10185 C -1.08581 0.1 -1.08698 0.09792 -1.08841 0.09676 C -1.09102 0.09468 -1.09401 0.09421 -1.09648 0.09213 L -1.09909 0.08958 " pathEditMode="relative" rAng="0" ptsTypes="AAAAAAAAAAAAAAAAAAAAAAAAAAAAAAAAAAAAAAAAAAAAAAAAAAAAAAAAAAAAAAAAAAAAAAAAAAAAAAAA">
                                      <p:cBhvr>
                                        <p:cTn id="14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190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544F1-F458-8E61-E1D3-F0645F98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D0A0-8964-23A8-03E0-B28DCB75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GB" sz="3700" dirty="0" err="1">
                <a:effectLst/>
                <a:latin typeface="Century Gothic" panose="020B0502020202020204" pitchFamily="34" charset="0"/>
              </a:rPr>
              <a:t>Gestaltung</a:t>
            </a:r>
            <a:r>
              <a:rPr lang="en-GB" sz="3700" dirty="0">
                <a:effectLst/>
                <a:latin typeface="Century Gothic" panose="020B0502020202020204" pitchFamily="34" charset="0"/>
              </a:rPr>
              <a:t> für </a:t>
            </a:r>
            <a:r>
              <a:rPr lang="en-GB" sz="3700" dirty="0" err="1">
                <a:effectLst/>
                <a:latin typeface="Century Gothic" panose="020B0502020202020204" pitchFamily="34" charset="0"/>
              </a:rPr>
              <a:t>gemeinsame</a:t>
            </a:r>
            <a:r>
              <a:rPr lang="en-GB" sz="3700" dirty="0">
                <a:effectLst/>
                <a:latin typeface="Century Gothic" panose="020B0502020202020204" pitchFamily="34" charset="0"/>
              </a:rPr>
              <a:t> </a:t>
            </a:r>
            <a:r>
              <a:rPr lang="en-GB" sz="3700" dirty="0" err="1">
                <a:effectLst/>
                <a:latin typeface="Century Gothic" panose="020B0502020202020204" pitchFamily="34" charset="0"/>
              </a:rPr>
              <a:t>Abenteuer</a:t>
            </a:r>
            <a:endParaRPr lang="en-GB" sz="3700" dirty="0">
              <a:effectLst/>
              <a:latin typeface="Century Gothic" panose="020B0502020202020204" pitchFamily="34" charset="0"/>
            </a:endParaRPr>
          </a:p>
        </p:txBody>
      </p:sp>
      <p:pic>
        <p:nvPicPr>
          <p:cNvPr id="4" name="Picture 3" descr="A pair of hands holding a video game controller&#10;&#10;Description automatically generated">
            <a:extLst>
              <a:ext uri="{FF2B5EF4-FFF2-40B4-BE49-F238E27FC236}">
                <a16:creationId xmlns:a16="http://schemas.microsoft.com/office/drawing/2014/main" id="{87A924A0-A735-F33E-1A98-7AD35DD8AE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46" r="26306" b="-2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60DF0-BC5B-1AF5-2F82-37199EFDC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4" y="2614612"/>
            <a:ext cx="5291663" cy="3752849"/>
          </a:xfrm>
        </p:spPr>
        <p:txBody>
          <a:bodyPr>
            <a:normAutofit/>
          </a:bodyPr>
          <a:lstStyle/>
          <a:p>
            <a:r>
              <a:rPr lang="en-GB" sz="2400" dirty="0" err="1">
                <a:effectLst/>
                <a:latin typeface="Century Gothic" panose="020B0502020202020204" pitchFamily="34" charset="0"/>
              </a:rPr>
              <a:t>Einfache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und intuitive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Bedienung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für alle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Altersgruppen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.</a:t>
            </a:r>
          </a:p>
          <a:p>
            <a:r>
              <a:rPr lang="en-GB" sz="2400" dirty="0" err="1">
                <a:effectLst/>
                <a:latin typeface="Century Gothic" panose="020B0502020202020204" pitchFamily="34" charset="0"/>
              </a:rPr>
              <a:t>Farbenfrohes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und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familienfreundliches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Design, das Kinder und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Erwachsene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anspricht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.</a:t>
            </a:r>
          </a:p>
          <a:p>
            <a:r>
              <a:rPr lang="en-GB" sz="2400" dirty="0" err="1">
                <a:effectLst/>
                <a:latin typeface="Century Gothic" panose="020B0502020202020204" pitchFamily="34" charset="0"/>
              </a:rPr>
              <a:t>Klare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Symbole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und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leicht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verständliche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 </a:t>
            </a:r>
            <a:r>
              <a:rPr lang="en-GB" sz="2400" dirty="0" err="1">
                <a:effectLst/>
                <a:latin typeface="Century Gothic" panose="020B0502020202020204" pitchFamily="34" charset="0"/>
              </a:rPr>
              <a:t>Spielanweisungen</a:t>
            </a:r>
            <a:r>
              <a:rPr lang="en-GB" sz="2400" dirty="0">
                <a:effectLst/>
                <a:latin typeface="Century Gothic" panose="020B0502020202020204" pitchFamily="34" charset="0"/>
              </a:rPr>
              <a:t>.</a:t>
            </a:r>
          </a:p>
          <a:p>
            <a:endParaRPr lang="en-DE" sz="2400" dirty="0"/>
          </a:p>
        </p:txBody>
      </p:sp>
      <p:pic>
        <p:nvPicPr>
          <p:cNvPr id="5" name="Graphic 4" descr="Aeroplane with solid fill">
            <a:extLst>
              <a:ext uri="{FF2B5EF4-FFF2-40B4-BE49-F238E27FC236}">
                <a16:creationId xmlns:a16="http://schemas.microsoft.com/office/drawing/2014/main" id="{6FF98DF5-4CFB-42BF-395F-B9500B372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817707">
            <a:off x="12407997" y="1520923"/>
            <a:ext cx="1194942" cy="119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2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162 -0.0588 L -0.07162 -0.0588 C -0.07748 -0.05973 -0.08334 -0.06019 -0.08907 -0.06135 C -0.09141 -0.06181 -0.09375 -0.06204 -0.09584 -0.06366 C -0.0987 -0.06598 -0.10091 -0.07061 -0.10378 -0.07315 C -0.11107 -0.07963 -0.11446 -0.08125 -0.11993 -0.08982 C -0.12227 -0.09352 -0.12487 -0.09699 -0.12657 -0.10186 L -0.1319 -0.11598 C -0.13282 -0.11829 -0.13399 -0.12061 -0.13464 -0.12315 C -0.13646 -0.1294 -0.13868 -0.13542 -0.13998 -0.14213 C -0.1418 -0.15209 -0.1405 -0.14723 -0.14401 -0.15649 C -0.14818 -0.18611 -0.14284 -0.14931 -0.14675 -0.17315 C -0.15 -0.19399 -0.14623 -0.17269 -0.14935 -0.18982 L -0.15065 -0.20394 " pathEditMode="relative" ptsTypes="AAAAAAAA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93012-A693-D15C-0A4B-24EB1611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CA72-4B1D-1130-582D-7124CB6F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Turbulenzen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gemeistert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 So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erfüllen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wir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alle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Anforderungen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B6866-EC12-4E75-9D67-7AA0A53E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269" y="1596260"/>
            <a:ext cx="9348537" cy="503237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Muss-</a:t>
            </a: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Anforderungen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Grundlegende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Funktionen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</a:t>
            </a:r>
          </a:p>
          <a:p>
            <a:pPr marL="0" indent="0">
              <a:buNone/>
            </a:pP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Zwei-Spieler-Modus auf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demselben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Computer</a:t>
            </a: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Startbildschirm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mit</a:t>
            </a:r>
            <a:r>
              <a:rPr lang="ru-RU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de-DE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Menü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Anzeige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des Cockpits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mit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markierten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Zonen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für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beide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Spieler</a:t>
            </a: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Übersicht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des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Flugzeugstatus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Höhe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Geschwindigkeit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Achsenposition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) und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diese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Berechnung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Spielprozess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Abwechselndes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Würfeln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und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Platzieren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auf Cockpit-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Feldern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Bewegung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des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Flugzeugs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auf der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Landebahn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entsprechend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der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Bedingungen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Endbedingungen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Sichere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Landung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unter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Einhaltung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aller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Bedingungen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Kollision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Überflug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des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Flughafens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oder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Sturzflug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endParaRPr lang="en-DE" dirty="0">
              <a:latin typeface="Century Gothic" panose="020B0502020202020204" pitchFamily="34" charset="0"/>
            </a:endParaRPr>
          </a:p>
        </p:txBody>
      </p:sp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673A166C-04E2-417D-964E-3D735C255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5634" y="2719460"/>
            <a:ext cx="709540" cy="709540"/>
          </a:xfrm>
          <a:prstGeom prst="rect">
            <a:avLst/>
          </a:prstGeom>
        </p:spPr>
      </p:pic>
      <p:pic>
        <p:nvPicPr>
          <p:cNvPr id="6" name="Graphic 5" descr="Aeroplane with solid fill">
            <a:extLst>
              <a:ext uri="{FF2B5EF4-FFF2-40B4-BE49-F238E27FC236}">
                <a16:creationId xmlns:a16="http://schemas.microsoft.com/office/drawing/2014/main" id="{294B7275-5FA8-0301-B5AF-14EAE88DC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258564" y="2651784"/>
            <a:ext cx="594140" cy="594140"/>
          </a:xfrm>
          <a:prstGeom prst="rect">
            <a:avLst/>
          </a:prstGeom>
        </p:spPr>
      </p:pic>
      <p:pic>
        <p:nvPicPr>
          <p:cNvPr id="19" name="Graphic 18" descr="Tick with solid fill">
            <a:extLst>
              <a:ext uri="{FF2B5EF4-FFF2-40B4-BE49-F238E27FC236}">
                <a16:creationId xmlns:a16="http://schemas.microsoft.com/office/drawing/2014/main" id="{99BFA483-AD43-488C-E362-FF6EA2045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9806" y="4222359"/>
            <a:ext cx="709540" cy="709540"/>
          </a:xfrm>
          <a:prstGeom prst="rect">
            <a:avLst/>
          </a:prstGeom>
        </p:spPr>
      </p:pic>
      <p:pic>
        <p:nvPicPr>
          <p:cNvPr id="20" name="Graphic 19" descr="Aeroplane with solid fill">
            <a:extLst>
              <a:ext uri="{FF2B5EF4-FFF2-40B4-BE49-F238E27FC236}">
                <a16:creationId xmlns:a16="http://schemas.microsoft.com/office/drawing/2014/main" id="{DA6657B8-C5CD-C5AA-28B4-604C5EE6F6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9402736" y="4154683"/>
            <a:ext cx="594140" cy="594140"/>
          </a:xfrm>
          <a:prstGeom prst="rect">
            <a:avLst/>
          </a:prstGeom>
        </p:spPr>
      </p:pic>
      <p:pic>
        <p:nvPicPr>
          <p:cNvPr id="21" name="Graphic 20" descr="Tick with solid fill">
            <a:extLst>
              <a:ext uri="{FF2B5EF4-FFF2-40B4-BE49-F238E27FC236}">
                <a16:creationId xmlns:a16="http://schemas.microsoft.com/office/drawing/2014/main" id="{A8721AD1-68ED-0846-AE44-B3551BB76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8564" y="5919095"/>
            <a:ext cx="709540" cy="709540"/>
          </a:xfrm>
          <a:prstGeom prst="rect">
            <a:avLst/>
          </a:prstGeom>
        </p:spPr>
      </p:pic>
      <p:pic>
        <p:nvPicPr>
          <p:cNvPr id="22" name="Graphic 21" descr="Aeroplane with solid fill">
            <a:extLst>
              <a:ext uri="{FF2B5EF4-FFF2-40B4-BE49-F238E27FC236}">
                <a16:creationId xmlns:a16="http://schemas.microsoft.com/office/drawing/2014/main" id="{5898CADD-90BC-FB19-5F80-AB2CA945B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7961494" y="5851419"/>
            <a:ext cx="594140" cy="59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L -2.70833E-6 0.00023 C 0.00196 0.00254 0.00404 0.00509 0.00599 0.00764 C 0.01433 0.01944 0.00326 0.00601 0.0112 0.01527 C 0.01302 0.02569 0.01042 0.01458 0.01459 0.02314 C 0.02162 0.03726 0.01485 0.02847 0.02058 0.03541 C 0.02214 0.02731 0.02045 0.03379 0.02409 0.02615 C 0.02474 0.02476 0.02513 0.02291 0.02578 0.02152 C 0.02787 0.01713 0.02839 0.01689 0.03099 0.01389 C 0.03412 0.00555 0.03099 0.0125 0.03529 0.00625 C 0.0362 0.00486 0.03685 0.00301 0.03789 0.00162 C 0.03946 -0.0007 0.04128 -0.00255 0.04297 -0.0044 L 0.04558 -0.00764 C 0.05026 -0.01991 0.04414 -0.0051 0.04987 -0.01528 C 0.05065 -0.01644 0.05091 -0.01852 0.0517 -0.01991 C 0.05443 -0.02477 0.05417 -0.02061 0.05417 -0.02431 " pathEditMode="relative" rAng="0" ptsTypes="AAAAAAAAAAAAAAAA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8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1 0.01158 L 0.00521 0.01158 C 0.00638 0.01343 0.01172 0.02107 0.01354 0.025 C 0.01693 0.03218 0.01302 0.02686 0.01771 0.03218 C 0.02162 0.0426 0.0194 0.03912 0.02357 0.04422 C 0.02904 0.0375 0.02292 0.04514 0.02852 0.03681 C 0.02956 0.03519 0.03073 0.0338 0.0319 0.03218 C 0.03269 0.03125 0.0336 0.03056 0.03438 0.0294 C 0.03529 0.02801 0.03607 0.02639 0.03685 0.025 C 0.0375 0.02362 0.03776 0.02153 0.03854 0.02037 C 0.04011 0.01806 0.04193 0.01644 0.04349 0.01459 C 0.05248 0.00394 0.03894 0.02037 0.04857 0.00718 C 0.05013 0.0051 0.05352 0.00116 0.05352 0.00116 C 0.05417 -0.00023 0.05456 -0.00185 0.05521 -0.00324 C 0.05599 -0.00439 0.05782 -0.00601 0.05782 -0.00601 " pathEditMode="relative" ptsTypes="AAAAAAAAAAAAAAA">
                                      <p:cBhvr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21 0.01342 L 0.00521 0.01342 C 0.00625 0.01713 0.00717 0.02106 0.0086 0.0243 C 0.00977 0.02708 0.01159 0.02893 0.01276 0.03171 C 0.01315 0.03287 0.01368 0.03403 0.01407 0.03541 C 0.01563 0.04097 0.01355 0.03796 0.0168 0.04398 C 0.01745 0.04514 0.01823 0.0456 0.01888 0.04653 C 0.0194 0.04768 0.01954 0.04953 0.02032 0.05 C 0.02227 0.05139 0.02305 0.04653 0.0237 0.04514 C 0.02461 0.04375 0.02565 0.04305 0.02644 0.04143 C 0.02709 0.04051 0.02722 0.03889 0.02787 0.03796 C 0.02865 0.0368 0.02982 0.03657 0.0306 0.03541 C 0.03138 0.03449 0.0319 0.03287 0.03269 0.03171 C 0.03334 0.03078 0.03412 0.03032 0.03477 0.0294 C 0.03555 0.02824 0.03607 0.02685 0.03685 0.02569 C 0.0375 0.02477 0.03829 0.02407 0.03894 0.02315 C 0.03985 0.02199 0.04076 0.0206 0.04167 0.01944 C 0.04297 0.01782 0.04467 0.01666 0.04584 0.01458 C 0.04649 0.01342 0.04727 0.01227 0.04779 0.01088 C 0.04883 0.00856 0.04922 0.00532 0.05065 0.0037 L 0.05469 -0.00139 C 0.05704 -0.00417 0.05625 -0.00278 0.05756 -0.00486 " pathEditMode="relative" ptsTypes="AAAAAAAAAAAAAAAAAAAAAA">
                                      <p:cBhvr>
                                        <p:cTn id="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F3C2-4265-D449-4245-0A24F32A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9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Vom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Konzept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zur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Realität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 Die Evolution des Systems</a:t>
            </a:r>
            <a:endParaRPr lang="en-DE" dirty="0">
              <a:latin typeface="Century Gothic" panose="020B0502020202020204" pitchFamily="34" charset="0"/>
            </a:endParaRPr>
          </a:p>
        </p:txBody>
      </p:sp>
      <p:pic>
        <p:nvPicPr>
          <p:cNvPr id="5" name="Picture 4" descr="A diagram of a computer&#10;&#10;Description automatically generated">
            <a:extLst>
              <a:ext uri="{FF2B5EF4-FFF2-40B4-BE49-F238E27FC236}">
                <a16:creationId xmlns:a16="http://schemas.microsoft.com/office/drawing/2014/main" id="{32BF0003-7919-F65E-240A-1EB44065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14" y="1511543"/>
            <a:ext cx="9176044" cy="509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7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B3ED0-0CD8-30E5-CFB4-12D1D6B7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any&#10;&#10;Description automatically generated">
            <a:extLst>
              <a:ext uri="{FF2B5EF4-FFF2-40B4-BE49-F238E27FC236}">
                <a16:creationId xmlns:a16="http://schemas.microsoft.com/office/drawing/2014/main" id="{6735A4E3-20B2-1FA4-B552-E43872458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15" y="0"/>
            <a:ext cx="6368327" cy="6858000"/>
          </a:xfrm>
          <a:prstGeom prst="rect">
            <a:avLst/>
          </a:prstGeom>
        </p:spPr>
      </p:pic>
      <p:pic>
        <p:nvPicPr>
          <p:cNvPr id="6" name="Graphic 5" descr="Aeroplane with solid fill">
            <a:extLst>
              <a:ext uri="{FF2B5EF4-FFF2-40B4-BE49-F238E27FC236}">
                <a16:creationId xmlns:a16="http://schemas.microsoft.com/office/drawing/2014/main" id="{E871E430-3ED8-9BAC-84F6-2CF746CDB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817707">
            <a:off x="10439713" y="482536"/>
            <a:ext cx="1194942" cy="1194942"/>
          </a:xfrm>
          <a:prstGeom prst="rect">
            <a:avLst/>
          </a:prstGeom>
        </p:spPr>
      </p:pic>
      <p:pic>
        <p:nvPicPr>
          <p:cNvPr id="8" name="Graphic 7" descr="Aeroplane with solid fill">
            <a:extLst>
              <a:ext uri="{FF2B5EF4-FFF2-40B4-BE49-F238E27FC236}">
                <a16:creationId xmlns:a16="http://schemas.microsoft.com/office/drawing/2014/main" id="{76F92129-D701-F8AF-4ECE-8E7255AFA7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678418">
            <a:off x="319358" y="5714745"/>
            <a:ext cx="695669" cy="695669"/>
          </a:xfrm>
          <a:prstGeom prst="rect">
            <a:avLst/>
          </a:prstGeom>
        </p:spPr>
      </p:pic>
      <p:pic>
        <p:nvPicPr>
          <p:cNvPr id="9" name="Graphic 8" descr="Aeroplane with solid fill">
            <a:extLst>
              <a:ext uri="{FF2B5EF4-FFF2-40B4-BE49-F238E27FC236}">
                <a16:creationId xmlns:a16="http://schemas.microsoft.com/office/drawing/2014/main" id="{34A23D2F-4719-3436-2DF4-30924F39F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363990">
            <a:off x="10305449" y="4335813"/>
            <a:ext cx="1194942" cy="1194942"/>
          </a:xfrm>
          <a:prstGeom prst="rect">
            <a:avLst/>
          </a:prstGeom>
        </p:spPr>
      </p:pic>
      <p:pic>
        <p:nvPicPr>
          <p:cNvPr id="10" name="Graphic 9" descr="Aeroplane with solid fill">
            <a:extLst>
              <a:ext uri="{FF2B5EF4-FFF2-40B4-BE49-F238E27FC236}">
                <a16:creationId xmlns:a16="http://schemas.microsoft.com/office/drawing/2014/main" id="{FEA212BC-6CE3-94B5-7699-8D23B3F73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232672">
            <a:off x="947029" y="2679591"/>
            <a:ext cx="1194942" cy="1194942"/>
          </a:xfrm>
          <a:prstGeom prst="rect">
            <a:avLst/>
          </a:prstGeom>
        </p:spPr>
      </p:pic>
      <p:pic>
        <p:nvPicPr>
          <p:cNvPr id="11" name="Graphic 10" descr="Aeroplane with solid fill">
            <a:extLst>
              <a:ext uri="{FF2B5EF4-FFF2-40B4-BE49-F238E27FC236}">
                <a16:creationId xmlns:a16="http://schemas.microsoft.com/office/drawing/2014/main" id="{8358E3B8-9FA1-2FFE-5508-49E7AB256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6738403">
            <a:off x="734286" y="535285"/>
            <a:ext cx="602042" cy="60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37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A9ACF-097C-371A-01AB-B4CA4F1E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A49C-71F9-F34A-8C36-4E32C9BE0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Turbulenzen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gemeistert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 So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erfüllen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wir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alle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Anforderungen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19D3-4EAD-E65A-DA39-0A824A52B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Kann-Anforderungen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Zusatzfunktionen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</a:t>
            </a:r>
          </a:p>
          <a:p>
            <a:pPr marL="0" indent="0">
              <a:buNone/>
            </a:pP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Pausieren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des Spiels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mit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der Esc-Taste</a:t>
            </a: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Rückkehr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zum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Hauptmenü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über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das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Pausenmenü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Auswahl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verschiedener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Spielszenarien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Nutzung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von Tokens (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Erneut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Würfeln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Kaffeetoken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)</a:t>
            </a:r>
          </a:p>
          <a:p>
            <a:endParaRPr lang="en-DE" dirty="0">
              <a:latin typeface="Century Gothic" panose="020B0502020202020204" pitchFamily="34" charset="0"/>
            </a:endParaRPr>
          </a:p>
        </p:txBody>
      </p:sp>
      <p:pic>
        <p:nvPicPr>
          <p:cNvPr id="4" name="Graphic 3" descr="Aeroplane with solid fill">
            <a:extLst>
              <a:ext uri="{FF2B5EF4-FFF2-40B4-BE49-F238E27FC236}">
                <a16:creationId xmlns:a16="http://schemas.microsoft.com/office/drawing/2014/main" id="{208CB0F1-706C-A201-848C-03AA74915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0043036" y="3797177"/>
            <a:ext cx="594140" cy="594140"/>
          </a:xfrm>
          <a:prstGeom prst="rect">
            <a:avLst/>
          </a:prstGeom>
        </p:spPr>
      </p:pic>
      <p:pic>
        <p:nvPicPr>
          <p:cNvPr id="5" name="Graphic 4" descr="Tick with solid fill">
            <a:extLst>
              <a:ext uri="{FF2B5EF4-FFF2-40B4-BE49-F238E27FC236}">
                <a16:creationId xmlns:a16="http://schemas.microsoft.com/office/drawing/2014/main" id="{F56ED176-171D-0647-0ED2-963CE5AD4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43648" y="3932114"/>
            <a:ext cx="709540" cy="70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5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0.01852 L 0.00364 0.01852 C 0.00794 0.03102 0.00521 0.02639 0.01133 0.03357 L 0.01341 0.03588 L 0.01549 0.03843 C 0.01588 0.03958 0.01627 0.04097 0.01692 0.04213 C 0.0233 0.05486 0.01927 0.04491 0.02252 0.05347 C 0.02617 0.05116 0.02317 0.05347 0.02669 0.04838 C 0.02851 0.0456 0.02877 0.04583 0.03086 0.04468 C 0.03177 0.04352 0.03281 0.04236 0.03372 0.04097 C 0.03906 0.03241 0.03411 0.03889 0.03854 0.03357 C 0.03906 0.03218 0.03932 0.03079 0.03997 0.02963 C 0.04062 0.0287 0.0414 0.02801 0.04205 0.02732 C 0.04297 0.02593 0.04401 0.02477 0.04492 0.02361 C 0.04817 0.01852 0.04544 0.0206 0.04909 0.01852 L 0.05325 0.01111 C 0.05403 0.00972 0.05455 0.00833 0.05534 0.00741 L 0.05742 0.00486 C 0.05833 0.00023 0.05755 0.00162 0.05963 -7.40741E-7 " pathEditMode="relative" ptsTypes="AAAAAAAAAAAAAAAAAAA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BD791-BA24-2DB6-2F04-3B2A4B349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88AFA-C361-8CC0-1239-D0226C09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Ein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Blick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ins Cockpit: “Sky Team” Spiel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erleben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82D58-3370-1781-D54D-41657139A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17804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37A58-3FDA-D3C8-1E9C-130229784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DDEDA-565F-CCD4-3ADB-5157056B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351"/>
            <a:ext cx="10515600" cy="1325563"/>
          </a:xfrm>
        </p:spPr>
        <p:txBody>
          <a:bodyPr/>
          <a:lstStyle/>
          <a:p>
            <a:pPr algn="ctr"/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Landung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erfolgreich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 Unser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Fazit</a:t>
            </a:r>
            <a:endParaRPr lang="en-GB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8155-0D5A-1D96-36D3-7B188372B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985" y="1292906"/>
            <a:ext cx="5981700" cy="54210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DE" b="1" dirty="0">
                <a:latin typeface="Century Gothic" panose="020B0502020202020204" pitchFamily="34" charset="0"/>
              </a:rPr>
              <a:t>Team A* bietet:</a:t>
            </a:r>
          </a:p>
          <a:p>
            <a:pPr marL="0" indent="0">
              <a:buNone/>
            </a:pPr>
            <a:endParaRPr lang="en-DE" dirty="0"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Funktionierendes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Spiel, das alle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Anforderungen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erfüllt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Möglichkeit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für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Nutzer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eine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angenehme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Zeit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zu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verbringen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und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sich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zu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entspannen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0" indent="0">
              <a:buNone/>
            </a:pPr>
            <a:endParaRPr lang="en-GB" dirty="0">
              <a:solidFill>
                <a:srgbClr val="0E0E0E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GB" b="1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Zukunftsperspektiven</a:t>
            </a:r>
            <a:r>
              <a:rPr lang="en-GB" b="1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:</a:t>
            </a:r>
          </a:p>
          <a:p>
            <a:pPr marL="0" indent="0">
              <a:buNone/>
            </a:pPr>
            <a:endParaRPr lang="en-GB" b="1" dirty="0">
              <a:solidFill>
                <a:srgbClr val="0E0E0E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Verbindung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zwischen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zwei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verschiedenen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Geräten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Entwicklung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einer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mobilen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Version der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Anwendung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Hinzufügen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neuer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Spielmodi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und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Szenarien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nach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GB" dirty="0" err="1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Bedarf</a:t>
            </a:r>
            <a:r>
              <a:rPr lang="en-GB" dirty="0">
                <a:solidFill>
                  <a:srgbClr val="0E0E0E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0" indent="0">
              <a:buNone/>
            </a:pPr>
            <a:endParaRPr lang="en-DE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17E2E-A7BC-DB87-31CF-AA7955ADD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471" y="4408714"/>
            <a:ext cx="4875658" cy="330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5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362 0.05717 L -0.29362 0.05741 C -0.32526 0.06319 -0.29713 0.05833 -0.34609 0.06319 C -0.35859 0.06458 -0.37929 0.06736 -0.39232 0.06921 L -0.41094 0.07245 L -0.43971 0.07592 L -0.56067 0.07245 C -0.57252 0.07129 -0.58398 0.06134 -0.5957 0.06018 L -0.6306 0.05717 C -0.64219 0.05509 -0.6539 0.05208 -0.66549 0.05092 L -0.77031 0.04166 C -0.80442 0.03356 -0.78698 0.03657 -0.82265 0.03264 C -0.8362 0.02916 -0.84948 0.02616 -0.86276 0.02014 C -0.86614 0.01875 -0.87044 0.0169 -0.87396 0.01435 C -0.88112 0.00926 -0.8737 0.01273 -0.88268 0.0081 C -0.88854 0.00463 -0.89284 0.0037 -0.89883 -0.00116 L -0.90638 -0.00718 C -0.90755 -0.00834 -0.90885 -0.00949 -0.91015 -0.01042 C -0.91328 -0.01227 -0.91692 -0.01343 -0.92018 -0.01644 C -0.92213 -0.01852 -0.92422 -0.02037 -0.9263 -0.02269 C -0.92747 -0.02361 -0.92877 -0.02454 -0.92995 -0.02547 C -0.93177 -0.02755 -0.9332 -0.02986 -0.93502 -0.03172 C -0.93633 -0.0331 -0.93763 -0.03357 -0.93867 -0.03496 C -0.94219 -0.03889 -0.94531 -0.04422 -0.94883 -0.04699 C -0.95 -0.04792 -0.95143 -0.04908 -0.9526 -0.05023 C -0.96328 -0.06134 -0.95247 -0.05209 -0.96133 -0.05926 C -0.97187 -0.07685 -0.95833 -0.05579 -0.96875 -0.06852 C -0.97083 -0.0713 -0.97278 -0.07477 -0.975 -0.07778 C -0.98411 -0.09028 -0.97604 -0.07871 -0.98372 -0.08704 C -0.99271 -0.09653 -0.9845 -0.09051 -0.99362 -0.09607 C -0.99492 -0.09491 -0.99739 -0.09607 -0.99739 -0.09306 C -0.99739 -0.08959 -0.99245 -0.08843 -0.99362 -0.09005 C -0.99583 -0.09236 -0.99791 -0.09352 -0.99987 -0.09607 C -1.01133 -0.11134 -0.99961 -0.10093 -1.00859 -0.10857 L -1.01992 -0.12662 C -1.02109 -0.12871 -1.02226 -0.13172 -1.02357 -0.13287 L -1.02734 -0.13588 C -1.02851 -0.13797 -1.02982 -0.14028 -1.03112 -0.14213 C -1.03893 -0.15185 -1.03073 -0.13727 -1.03854 -0.15116 C -1.04206 -0.15741 -1.04518 -0.16366 -1.0487 -0.16945 C -1.05013 -0.17269 -1.05208 -0.17523 -1.05364 -0.17894 C -1.05442 -0.18079 -1.05495 -0.1831 -1.05599 -0.18519 C -1.05755 -0.18727 -1.05937 -0.18866 -1.06107 -0.19097 C -1.06406 -0.19514 -1.06706 -0.20185 -1.06979 -0.20648 C -1.07109 -0.20857 -1.07239 -0.20996 -1.07357 -0.2125 C -1.07617 -0.21829 -1.07851 -0.225 -1.08099 -0.23079 C -1.08216 -0.23403 -1.08385 -0.23658 -1.08476 -0.24005 C -1.08567 -0.24306 -1.0862 -0.24653 -1.08711 -0.24954 C -1.08997 -0.25672 -1.09375 -0.2625 -1.09596 -0.27084 C -1.09687 -0.27384 -1.09752 -0.27709 -1.09844 -0.27986 C -1.10078 -0.28611 -1.10403 -0.29097 -1.10599 -0.29838 C -1.10755 -0.30463 -1.10872 -0.31158 -1.11107 -0.31667 C -1.11224 -0.31968 -1.11354 -0.32222 -1.11484 -0.32593 C -1.11588 -0.3294 -1.11627 -0.33426 -1.11719 -0.3382 C -1.11797 -0.34144 -1.11888 -0.34445 -1.11979 -0.34746 C -1.12096 -0.35787 -1.12096 -0.3581 -1.12357 -0.36898 C -1.12409 -0.37199 -1.12487 -0.37547 -1.12591 -0.37801 C -1.12864 -0.38472 -1.12851 -0.3838 -1.13073 -0.3838 " pathEditMode="relative" rAng="0" ptsTypes="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862" y="-21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26AB7-220E-AFA6-34BE-DD179312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CEB5-4257-D83B-44B5-A223BC52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668" y="2603829"/>
            <a:ext cx="5594131" cy="1325563"/>
          </a:xfrm>
        </p:spPr>
        <p:txBody>
          <a:bodyPr/>
          <a:lstStyle/>
          <a:p>
            <a:pPr algn="ctr"/>
            <a:r>
              <a:rPr lang="en-DE" dirty="0">
                <a:latin typeface="Century Gothic" panose="020B0502020202020204" pitchFamily="34" charset="0"/>
              </a:rPr>
              <a:t>Vielen Dank für Ihre Aufmerksamkeit!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B44A7E-58EA-6582-4A3D-DB8FD97F5AD6}"/>
              </a:ext>
            </a:extLst>
          </p:cNvPr>
          <p:cNvGrpSpPr/>
          <p:nvPr/>
        </p:nvGrpSpPr>
        <p:grpSpPr>
          <a:xfrm>
            <a:off x="-373807" y="-806364"/>
            <a:ext cx="5751787" cy="9471511"/>
            <a:chOff x="-349470" y="-1321999"/>
            <a:chExt cx="5751787" cy="9471511"/>
          </a:xfrm>
          <a:blipFill dpi="0" rotWithShape="0">
            <a:blip r:embed="rId2"/>
            <a:srcRect/>
            <a:stretch>
              <a:fillRect/>
            </a:stretch>
          </a:blip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74FE7B6-45C7-ADB5-21D2-19B851337761}"/>
                </a:ext>
              </a:extLst>
            </p:cNvPr>
            <p:cNvSpPr/>
            <p:nvPr/>
          </p:nvSpPr>
          <p:spPr>
            <a:xfrm>
              <a:off x="-349470" y="-1321999"/>
              <a:ext cx="5594131" cy="55456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241FD3F-7EF5-ADA2-9253-658AF79EA60B}"/>
                </a:ext>
              </a:extLst>
            </p:cNvPr>
            <p:cNvSpPr/>
            <p:nvPr/>
          </p:nvSpPr>
          <p:spPr>
            <a:xfrm>
              <a:off x="-191814" y="2603829"/>
              <a:ext cx="5594131" cy="554568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pic>
        <p:nvPicPr>
          <p:cNvPr id="1026" name="Picture 2" descr="Airplane Top View PNGs for Free Download">
            <a:extLst>
              <a:ext uri="{FF2B5EF4-FFF2-40B4-BE49-F238E27FC236}">
                <a16:creationId xmlns:a16="http://schemas.microsoft.com/office/drawing/2014/main" id="{C949AD67-941E-D973-368B-8DC4F7C00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-869763" y="-5394975"/>
            <a:ext cx="67437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513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44444E-6 L -0.0129 0.95787 " pathEditMode="relative" rAng="0" ptsTypes="AA">
                                      <p:cBhvr>
                                        <p:cTn id="9" dur="3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1" y="4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327</Words>
  <Application>Microsoft Macintosh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 Gothic</vt:lpstr>
      <vt:lpstr>Office Theme</vt:lpstr>
      <vt:lpstr>Einblick im „Sky Team“ Development Team A*</vt:lpstr>
      <vt:lpstr>Startklar: Das Spiel, das begeistert</vt:lpstr>
      <vt:lpstr>Unser Flugteam: Die Köpfe hinter „Sky Team“</vt:lpstr>
      <vt:lpstr>Gestaltung für gemeinsame Abenteuer</vt:lpstr>
      <vt:lpstr>Turbulenzen gemeistert: So erfüllen wir alle Anforderungen</vt:lpstr>
      <vt:lpstr>Vom Konzept zur Realität: Die Evolution des Systems</vt:lpstr>
      <vt:lpstr>PowerPoint Presentation</vt:lpstr>
      <vt:lpstr>Turbulenzen gemeistert: So erfüllen wir alle Anforderungen</vt:lpstr>
      <vt:lpstr>Ein Blick ins Cockpit: “Sky Team” Spiel erleben</vt:lpstr>
      <vt:lpstr>Landung erfolgreich: Unser Fazit</vt:lpstr>
      <vt:lpstr>Vielen Dank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Nataliia Shcherba</dc:creator>
  <cp:lastModifiedBy>Nataliia Shcherba</cp:lastModifiedBy>
  <cp:revision>2</cp:revision>
  <dcterms:created xsi:type="dcterms:W3CDTF">2025-01-14T13:19:14Z</dcterms:created>
  <dcterms:modified xsi:type="dcterms:W3CDTF">2025-01-14T19:47:25Z</dcterms:modified>
</cp:coreProperties>
</file>